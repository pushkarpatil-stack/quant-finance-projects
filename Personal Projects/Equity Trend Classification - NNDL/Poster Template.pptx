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5"/>
  </p:sldMasterIdLst>
  <p:notesMasterIdLst>
    <p:notesMasterId r:id="rId6"/>
  </p:notesMasterIdLst>
  <p:sldIdLst>
    <p:sldId id="256" r:id="rId7"/>
  </p:sldIdLst>
  <p:sldSz cy="32918400" cx="438912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585842-68C0-4D9C-A08B-B5C86F3966D5}">
  <a:tblStyle styleId="{8E585842-68C0-4D9C-A08B-B5C86F3966D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38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dac20a4a95_0_73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g3dac20a4a95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1A1718"/>
                </a:solidFill>
                <a:latin typeface="Arial"/>
                <a:ea typeface="Arial"/>
                <a:cs typeface="Arial"/>
                <a:sym typeface="Arial"/>
              </a:rPr>
              <a:t>Text – Text should be at least 36 point for normal reading otherwise your audience will be squinting and miss your content. For ease of viewing, utilize ample (and consistent) imagery – a picture tells a thousand words, and nobody is going to read a thousand words on your poster.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A171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1A1718"/>
                </a:solidFill>
                <a:latin typeface="Arial"/>
                <a:ea typeface="Arial"/>
                <a:cs typeface="Arial"/>
                <a:sym typeface="Arial"/>
              </a:rPr>
              <a:t>Images – Utilize JPG or PNG images – other formats may look fine; however, they may pose issues when printing. Images should be either original (your work) or appropriately credited licensed imagery. Photos should be at a 220-dpi resolution – even though a lower resolution image may look fine on the screen (72 dpi), they will look poor in print.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1A171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1A1718"/>
                </a:solidFill>
                <a:latin typeface="Arial"/>
                <a:ea typeface="Arial"/>
                <a:cs typeface="Arial"/>
                <a:sym typeface="Arial"/>
              </a:rPr>
              <a:t>Color - Avoid a high percentage of colored background.  If you absolutely have to have a lot of color in the background use Wolf Xpress. The paper we normally use will not support high color density, nor will our ink budget. </a:t>
            </a:r>
            <a:endParaRPr sz="1200"/>
          </a:p>
        </p:txBody>
      </p:sp>
      <p:sp>
        <p:nvSpPr>
          <p:cNvPr id="45" name="Google Shape;45;g3dac20a4a95_0_73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291840" y="10226042"/>
            <a:ext cx="37307520" cy="705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583680" y="18653760"/>
            <a:ext cx="30723840" cy="841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lvl="0" algn="ctr">
              <a:spcBef>
                <a:spcPts val="2680"/>
              </a:spcBef>
              <a:spcAft>
                <a:spcPts val="0"/>
              </a:spcAft>
              <a:buClr>
                <a:srgbClr val="898989"/>
              </a:buClr>
              <a:buSzPts val="13400"/>
              <a:buNone/>
              <a:defRPr>
                <a:solidFill>
                  <a:srgbClr val="898989"/>
                </a:solidFill>
              </a:defRPr>
            </a:lvl1pPr>
            <a:lvl2pPr lvl="1" algn="ctr">
              <a:spcBef>
                <a:spcPts val="2300"/>
              </a:spcBef>
              <a:spcAft>
                <a:spcPts val="0"/>
              </a:spcAft>
              <a:buClr>
                <a:srgbClr val="898989"/>
              </a:buClr>
              <a:buSzPts val="11500"/>
              <a:buNone/>
              <a:defRPr>
                <a:solidFill>
                  <a:srgbClr val="898989"/>
                </a:solidFill>
              </a:defRPr>
            </a:lvl2pPr>
            <a:lvl3pPr lvl="2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3pPr>
            <a:lvl4pPr lvl="3" algn="ctr">
              <a:spcBef>
                <a:spcPts val="1740"/>
              </a:spcBef>
              <a:spcAft>
                <a:spcPts val="0"/>
              </a:spcAft>
              <a:buClr>
                <a:srgbClr val="898989"/>
              </a:buClr>
              <a:buSzPts val="8700"/>
              <a:buNone/>
              <a:defRPr>
                <a:solidFill>
                  <a:srgbClr val="898989"/>
                </a:solidFill>
              </a:defRPr>
            </a:lvl4pPr>
            <a:lvl5pPr lvl="4" algn="ctr">
              <a:spcBef>
                <a:spcPts val="1740"/>
              </a:spcBef>
              <a:spcAft>
                <a:spcPts val="0"/>
              </a:spcAft>
              <a:buClr>
                <a:srgbClr val="898989"/>
              </a:buClr>
              <a:buSzPts val="8700"/>
              <a:buNone/>
              <a:defRPr>
                <a:solidFill>
                  <a:srgbClr val="898989"/>
                </a:solidFill>
              </a:defRPr>
            </a:lvl5pPr>
            <a:lvl6pPr lvl="5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6pPr>
            <a:lvl7pPr lvl="6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7pPr>
            <a:lvl8pPr lvl="7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8pPr>
            <a:lvl9pPr lvl="8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467101" y="21153122"/>
            <a:ext cx="37307520" cy="65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Arial"/>
              <a:buNone/>
              <a:defRPr b="1" sz="19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467101" y="13952226"/>
            <a:ext cx="37307520" cy="7200898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 sz="9700">
                <a:solidFill>
                  <a:srgbClr val="898989"/>
                </a:solidFill>
              </a:defRPr>
            </a:lvl1pPr>
            <a:lvl2pPr indent="-228600" lvl="1" marL="914400" algn="l">
              <a:spcBef>
                <a:spcPts val="1740"/>
              </a:spcBef>
              <a:spcAft>
                <a:spcPts val="0"/>
              </a:spcAft>
              <a:buClr>
                <a:srgbClr val="898989"/>
              </a:buClr>
              <a:buSzPts val="8700"/>
              <a:buNone/>
              <a:defRPr sz="8700">
                <a:solidFill>
                  <a:srgbClr val="898989"/>
                </a:solidFill>
              </a:defRPr>
            </a:lvl2pPr>
            <a:lvl3pPr indent="-228600" lvl="2" marL="1371600" algn="l">
              <a:spcBef>
                <a:spcPts val="1540"/>
              </a:spcBef>
              <a:spcAft>
                <a:spcPts val="0"/>
              </a:spcAft>
              <a:buClr>
                <a:srgbClr val="898989"/>
              </a:buClr>
              <a:buSzPts val="7700"/>
              <a:buNone/>
              <a:defRPr sz="7700">
                <a:solidFill>
                  <a:srgbClr val="898989"/>
                </a:solidFill>
              </a:defRPr>
            </a:lvl3pPr>
            <a:lvl4pPr indent="-228600" lvl="3" marL="18288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4pPr>
            <a:lvl5pPr indent="-228600" lvl="4" marL="22860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5pPr>
            <a:lvl6pPr indent="-228600" lvl="5" marL="27432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6pPr>
            <a:lvl7pPr indent="-228600" lvl="6" marL="32004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7pPr>
            <a:lvl8pPr indent="-228600" lvl="7" marL="36576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8pPr>
            <a:lvl9pPr indent="-228600" lvl="8" marL="41148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2194560" y="7680964"/>
            <a:ext cx="193852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079500" lvl="0" marL="45720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•"/>
              <a:defRPr sz="13400"/>
            </a:lvl1pPr>
            <a:lvl2pPr indent="-958850" lvl="1" marL="9144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–"/>
              <a:defRPr sz="11500"/>
            </a:lvl2pPr>
            <a:lvl3pPr indent="-844550" lvl="2" marL="1371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3pPr>
            <a:lvl4pPr indent="-781050" lvl="3" marL="18288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–"/>
              <a:defRPr sz="8700"/>
            </a:lvl4pPr>
            <a:lvl5pPr indent="-781050" lvl="4" marL="22860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»"/>
              <a:defRPr sz="8700"/>
            </a:lvl5pPr>
            <a:lvl6pPr indent="-781050" lvl="5" marL="27432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6pPr>
            <a:lvl7pPr indent="-781050" lvl="6" marL="32004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7pPr>
            <a:lvl8pPr indent="-781050" lvl="7" marL="3657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8pPr>
            <a:lvl9pPr indent="-781050" lvl="8" marL="41148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22311360" y="7680964"/>
            <a:ext cx="193852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079500" lvl="0" marL="45720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•"/>
              <a:defRPr sz="13400"/>
            </a:lvl1pPr>
            <a:lvl2pPr indent="-958850" lvl="1" marL="9144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–"/>
              <a:defRPr sz="11500"/>
            </a:lvl2pPr>
            <a:lvl3pPr indent="-844550" lvl="2" marL="1371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3pPr>
            <a:lvl4pPr indent="-781050" lvl="3" marL="18288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–"/>
              <a:defRPr sz="8700"/>
            </a:lvl4pPr>
            <a:lvl5pPr indent="-781050" lvl="4" marL="22860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»"/>
              <a:defRPr sz="8700"/>
            </a:lvl5pPr>
            <a:lvl6pPr indent="-781050" lvl="5" marL="27432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6pPr>
            <a:lvl7pPr indent="-781050" lvl="6" marL="32004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7pPr>
            <a:lvl8pPr indent="-781050" lvl="7" marL="3657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8pPr>
            <a:lvl9pPr indent="-781050" lvl="8" marL="41148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2194562" y="7368543"/>
            <a:ext cx="19392903" cy="3070858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b="1" sz="11500"/>
            </a:lvl1pPr>
            <a:lvl2pPr indent="-22860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b="1" sz="9700"/>
            </a:lvl2pPr>
            <a:lvl3pPr indent="-228600" lvl="2" marL="1371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None/>
              <a:defRPr b="1" sz="8700"/>
            </a:lvl3pPr>
            <a:lvl4pPr indent="-228600" lvl="3" marL="1828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4pPr>
            <a:lvl5pPr indent="-228600" lvl="4" marL="22860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5pPr>
            <a:lvl6pPr indent="-228600" lvl="5" marL="27432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6pPr>
            <a:lvl7pPr indent="-228600" lvl="6" marL="32004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7pPr>
            <a:lvl8pPr indent="-228600" lvl="7" marL="3657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8pPr>
            <a:lvl9pPr indent="-228600" lvl="8" marL="4114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2194562" y="10439401"/>
            <a:ext cx="19392903" cy="1896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958850" lvl="0" marL="4572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1pPr>
            <a:lvl2pPr indent="-84455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indent="-781050" lvl="2" marL="1371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3pPr>
            <a:lvl4pPr indent="-717550" lvl="3" marL="1828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–"/>
              <a:defRPr sz="7700"/>
            </a:lvl4pPr>
            <a:lvl5pPr indent="-717550" lvl="4" marL="22860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»"/>
              <a:defRPr sz="7700"/>
            </a:lvl5pPr>
            <a:lvl6pPr indent="-717550" lvl="5" marL="27432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6pPr>
            <a:lvl7pPr indent="-717550" lvl="6" marL="32004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7pPr>
            <a:lvl8pPr indent="-717550" lvl="7" marL="3657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8pPr>
            <a:lvl9pPr indent="-717550" lvl="8" marL="4114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9pPr>
          </a:lstStyle>
          <a:p/>
        </p:txBody>
      </p:sp>
      <p:sp>
        <p:nvSpPr>
          <p:cNvPr id="29" name="Google Shape;29;p6"/>
          <p:cNvSpPr txBox="1"/>
          <p:nvPr>
            <p:ph idx="3" type="body"/>
          </p:nvPr>
        </p:nvSpPr>
        <p:spPr>
          <a:xfrm>
            <a:off x="22296123" y="7368543"/>
            <a:ext cx="19400520" cy="3070858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b="1" sz="11500"/>
            </a:lvl1pPr>
            <a:lvl2pPr indent="-22860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b="1" sz="9700"/>
            </a:lvl2pPr>
            <a:lvl3pPr indent="-228600" lvl="2" marL="1371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None/>
              <a:defRPr b="1" sz="8700"/>
            </a:lvl3pPr>
            <a:lvl4pPr indent="-228600" lvl="3" marL="1828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4pPr>
            <a:lvl5pPr indent="-228600" lvl="4" marL="22860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5pPr>
            <a:lvl6pPr indent="-228600" lvl="5" marL="27432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6pPr>
            <a:lvl7pPr indent="-228600" lvl="6" marL="32004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7pPr>
            <a:lvl8pPr indent="-228600" lvl="7" marL="3657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8pPr>
            <a:lvl9pPr indent="-228600" lvl="8" marL="4114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9pPr>
          </a:lstStyle>
          <a:p/>
        </p:txBody>
      </p:sp>
      <p:sp>
        <p:nvSpPr>
          <p:cNvPr id="30" name="Google Shape;30;p6"/>
          <p:cNvSpPr txBox="1"/>
          <p:nvPr>
            <p:ph idx="4" type="body"/>
          </p:nvPr>
        </p:nvSpPr>
        <p:spPr>
          <a:xfrm>
            <a:off x="22296123" y="10439401"/>
            <a:ext cx="19400520" cy="1896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958850" lvl="0" marL="4572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1pPr>
            <a:lvl2pPr indent="-84455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indent="-781050" lvl="2" marL="1371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3pPr>
            <a:lvl4pPr indent="-717550" lvl="3" marL="1828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–"/>
              <a:defRPr sz="7700"/>
            </a:lvl4pPr>
            <a:lvl5pPr indent="-717550" lvl="4" marL="22860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»"/>
              <a:defRPr sz="7700"/>
            </a:lvl5pPr>
            <a:lvl6pPr indent="-717550" lvl="5" marL="27432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6pPr>
            <a:lvl7pPr indent="-717550" lvl="6" marL="32004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7pPr>
            <a:lvl8pPr indent="-717550" lvl="7" marL="3657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8pPr>
            <a:lvl9pPr indent="-717550" lvl="8" marL="4114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2194563" y="1310640"/>
            <a:ext cx="14439903" cy="557784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None/>
              <a:defRPr b="1" sz="9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17160240" y="1310644"/>
            <a:ext cx="24536400" cy="2809494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206500" lvl="0" marL="457200" algn="l"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Char char="•"/>
              <a:defRPr sz="15400"/>
            </a:lvl1pPr>
            <a:lvl2pPr indent="-1079500" lvl="1" marL="91440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–"/>
              <a:defRPr sz="13400"/>
            </a:lvl2pPr>
            <a:lvl3pPr indent="-958850" lvl="2" marL="13716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3pPr>
            <a:lvl4pPr indent="-844550" lvl="3" marL="18288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4pPr>
            <a:lvl5pPr indent="-844550" lvl="4" marL="22860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»"/>
              <a:defRPr sz="9700"/>
            </a:lvl5pPr>
            <a:lvl6pPr indent="-844550" lvl="5" marL="27432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6pPr>
            <a:lvl7pPr indent="-844550" lvl="6" marL="3200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7pPr>
            <a:lvl8pPr indent="-844550" lvl="7" marL="3657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8pPr>
            <a:lvl9pPr indent="-844550" lvl="8" marL="41148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2194563" y="6888484"/>
            <a:ext cx="14439903" cy="2251710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 sz="6700"/>
            </a:lvl1pPr>
            <a:lvl2pPr indent="-228600" lvl="1" marL="9144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indent="-228600" lvl="3" marL="18288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8602983" y="23042881"/>
            <a:ext cx="26334720" cy="2720342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None/>
              <a:defRPr b="1" sz="9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/>
          <p:nvPr>
            <p:ph idx="2" type="pic"/>
          </p:nvPr>
        </p:nvSpPr>
        <p:spPr>
          <a:xfrm>
            <a:off x="8602983" y="4288280"/>
            <a:ext cx="26334720" cy="1795549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8602983" y="25763223"/>
            <a:ext cx="26334720" cy="3863338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 sz="6700"/>
            </a:lvl1pPr>
            <a:lvl2pPr indent="-228600" lvl="1" marL="9144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indent="-228600" lvl="3" marL="18288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Arial"/>
              <a:buNone/>
              <a:defRPr b="1" i="0" sz="2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079500" lvl="0" marL="457200" marR="0" rtl="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58850" lvl="1" marL="914400" marR="0" rtl="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–"/>
              <a:defRPr b="0" i="0" sz="1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44550" lvl="2" marL="13716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781050" lvl="3" marL="1828800" marR="0" rtl="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Char char="–"/>
              <a:defRPr b="0" i="0" sz="8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781050" lvl="4" marL="2286000" marR="0" rtl="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Char char="»"/>
              <a:defRPr b="0" i="0" sz="8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44550" lvl="5" marL="27432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44550" lvl="6" marL="32004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44550" lvl="7" marL="36576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44550" lvl="8" marL="41148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/>
        </p:nvSpPr>
        <p:spPr>
          <a:xfrm>
            <a:off x="17566488" y="1770913"/>
            <a:ext cx="23706000" cy="22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0"/>
              <a:buFont typeface="Arial"/>
              <a:buNone/>
            </a:pPr>
            <a:r>
              <a:rPr b="1" lang="en-US" sz="7200">
                <a:solidFill>
                  <a:schemeClr val="dk1"/>
                </a:solidFill>
              </a:rPr>
              <a:t>Low-Frequency Signal Decomposition for Equity Trend Analysis Using CNN-RNN Fusion</a:t>
            </a:r>
            <a:endParaRPr sz="7200"/>
          </a:p>
        </p:txBody>
      </p:sp>
      <p:sp>
        <p:nvSpPr>
          <p:cNvPr id="48" name="Google Shape;48;p11"/>
          <p:cNvSpPr txBox="1"/>
          <p:nvPr/>
        </p:nvSpPr>
        <p:spPr>
          <a:xfrm>
            <a:off x="19777213" y="3894713"/>
            <a:ext cx="217062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898989"/>
                </a:solidFill>
              </a:rPr>
              <a:t>Cheng-Hao Chiu, Pushkar Patil, Zhitian Deng</a:t>
            </a:r>
            <a:r>
              <a:rPr b="0" i="0" lang="en-US" sz="36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600">
                <a:solidFill>
                  <a:srgbClr val="898989"/>
                </a:solidFill>
              </a:rPr>
              <a:t>NNDL.85</a:t>
            </a:r>
            <a:endParaRPr/>
          </a:p>
        </p:txBody>
      </p:sp>
      <p:pic>
        <p:nvPicPr>
          <p:cNvPr id="49" name="Google Shape;49;p11"/>
          <p:cNvPicPr preferRelativeResize="0"/>
          <p:nvPr/>
        </p:nvPicPr>
        <p:blipFill rotWithShape="1">
          <a:blip r:embed="rId3">
            <a:alphaModFix/>
          </a:blip>
          <a:srcRect b="0" l="0" r="63636" t="0"/>
          <a:stretch/>
        </p:blipFill>
        <p:spPr>
          <a:xfrm>
            <a:off x="526338" y="236792"/>
            <a:ext cx="5388494" cy="3113627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/>
        </p:nvSpPr>
        <p:spPr>
          <a:xfrm>
            <a:off x="6476270" y="1285701"/>
            <a:ext cx="105288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AI Student Symposium 2026</a:t>
            </a:r>
            <a:endParaRPr/>
          </a:p>
        </p:txBody>
      </p:sp>
      <p:sp>
        <p:nvSpPr>
          <p:cNvPr id="51" name="Google Shape;51;p11"/>
          <p:cNvSpPr txBox="1"/>
          <p:nvPr/>
        </p:nvSpPr>
        <p:spPr>
          <a:xfrm>
            <a:off x="36005550" y="765750"/>
            <a:ext cx="6393300" cy="101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</a:rPr>
              <a:t>NNDL.85 </a:t>
            </a:r>
            <a:r>
              <a:rPr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\ ID.</a:t>
            </a:r>
            <a:r>
              <a:rPr lang="en-US" sz="6000">
                <a:solidFill>
                  <a:schemeClr val="lt1"/>
                </a:solidFill>
              </a:rPr>
              <a:t>52</a:t>
            </a:r>
            <a:endParaRPr/>
          </a:p>
        </p:txBody>
      </p:sp>
      <p:sp>
        <p:nvSpPr>
          <p:cNvPr id="52" name="Google Shape;52;p11"/>
          <p:cNvSpPr txBox="1"/>
          <p:nvPr/>
        </p:nvSpPr>
        <p:spPr>
          <a:xfrm>
            <a:off x="21461838" y="30428313"/>
            <a:ext cx="6656400" cy="101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highlight>
                  <a:srgbClr val="1B3A6B"/>
                </a:highlight>
              </a:rPr>
              <a:t> Main References   </a:t>
            </a:r>
            <a:endParaRPr b="1" sz="6000">
              <a:solidFill>
                <a:srgbClr val="FFFFFF"/>
              </a:solidFill>
              <a:highlight>
                <a:srgbClr val="1B3A6B"/>
              </a:highlight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461838" y="31444113"/>
            <a:ext cx="21455700" cy="1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[1] Alexandrov, T. et al. (2012). A review of some modern approaches to the problem of trend extraction. Econometric Reviews, 31(6), 593–629.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[2] Yahoo Finance / yfinance: https://pypi.org/project/yfinance/  |  FRED: https://fred.stlouisfed.org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[3] Cho, K. et al. (2014). Learning Phrase Representations using RNN Encoder-Decoder for Statistical Machine Translation. arXiv:1406.1078.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50188" y="3055538"/>
            <a:ext cx="16836300" cy="101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b="1" lang="en-US" sz="6000">
                <a:solidFill>
                  <a:srgbClr val="FFFFFF"/>
                </a:solidFill>
                <a:highlight>
                  <a:srgbClr val="1B3A6B"/>
                </a:highlight>
              </a:rPr>
              <a:t>  PROBLEM STATEMENT   </a:t>
            </a:r>
            <a:endParaRPr sz="6000">
              <a:solidFill>
                <a:schemeClr val="dk1"/>
              </a:solidFill>
            </a:endParaRPr>
          </a:p>
        </p:txBody>
      </p:sp>
      <p:sp>
        <p:nvSpPr>
          <p:cNvPr id="55" name="Google Shape;55;p11"/>
          <p:cNvSpPr txBox="1"/>
          <p:nvPr/>
        </p:nvSpPr>
        <p:spPr>
          <a:xfrm>
            <a:off x="650188" y="7325538"/>
            <a:ext cx="5388600" cy="101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</a:rPr>
              <a:t> DATA</a:t>
            </a:r>
            <a:r>
              <a:rPr lang="en-US" sz="6000"/>
              <a:t> </a:t>
            </a:r>
            <a:endParaRPr sz="6000"/>
          </a:p>
        </p:txBody>
      </p:sp>
      <p:sp>
        <p:nvSpPr>
          <p:cNvPr id="56" name="Google Shape;56;p11"/>
          <p:cNvSpPr txBox="1"/>
          <p:nvPr/>
        </p:nvSpPr>
        <p:spPr>
          <a:xfrm>
            <a:off x="24354063" y="755122"/>
            <a:ext cx="10554300" cy="101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</a:rPr>
              <a:t>Course ID: ECE525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650188" y="4141763"/>
            <a:ext cx="16836300" cy="31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This project treats the equity price series as a signal-processing problem. By decomposing market signals into structural components trend, cycle, and noise we classify the current market regime with strict causality across four states: Trending-Up, Trans-Up, Trans-Down, and Trending-Down.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graphicFrame>
        <p:nvGraphicFramePr>
          <p:cNvPr id="58" name="Google Shape;58;p11"/>
          <p:cNvGraphicFramePr/>
          <p:nvPr/>
        </p:nvGraphicFramePr>
        <p:xfrm>
          <a:off x="6293713" y="7325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{8E585842-68C0-4D9C-A08B-B5C86F3966D5}</a:tableStyleId>
              </a:tblPr>
              <a:tblGrid>
                <a:gridCol w="2833225"/>
                <a:gridCol w="2802075"/>
                <a:gridCol w="2786550"/>
                <a:gridCol w="2770925"/>
              </a:tblGrid>
              <a:tr h="101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Split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Period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~Days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% of Data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92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Train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2000</a:t>
                      </a:r>
                      <a:r>
                        <a:rPr lang="en-US" sz="2800"/>
                        <a:t>–2018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4,800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74%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92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Validation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2018–2021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750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12%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22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Test (Blind)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2021–2025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1,000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16%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9" name="Google Shape;59;p11"/>
          <p:cNvSpPr txBox="1"/>
          <p:nvPr/>
        </p:nvSpPr>
        <p:spPr>
          <a:xfrm>
            <a:off x="650188" y="11015775"/>
            <a:ext cx="18427200" cy="7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3600"/>
              <a:t>Signal Decomposition — Dual Causal EWM</a:t>
            </a:r>
            <a:endParaRPr b="1" sz="3600"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3600"/>
              <a:t>HP and DWT filters were evaluated but introduce lookahead bias in rolling-window settings, as both require the full series to optimize parameters. Dual EWM was adopted as the causal-equivalent alternative. The Butterworth filter is retained for visualization only.</a:t>
            </a:r>
            <a:endParaRPr sz="3600"/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/>
              <a:t>Trend Fast: EWM-20  |  Trend Slow: EWM-60  |  Cycle: Fast − Slow  |  Noise: Price − Fast</a:t>
            </a:r>
            <a:endParaRPr sz="3600"/>
          </a:p>
          <a:p>
            <a:pPr indent="-45720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4-Class target labels assigned daily from the dual EWM decomposition </a:t>
            </a:r>
            <a:endParaRPr sz="3600"/>
          </a:p>
        </p:txBody>
      </p:sp>
      <p:sp>
        <p:nvSpPr>
          <p:cNvPr id="60" name="Google Shape;60;p11"/>
          <p:cNvSpPr txBox="1"/>
          <p:nvPr/>
        </p:nvSpPr>
        <p:spPr>
          <a:xfrm>
            <a:off x="650188" y="8411413"/>
            <a:ext cx="5388600" cy="27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Source: SPY (S&amp;P 500 ETF), daily OHLCV, 2000–2025 (~6,500 trading days). Cross-asset signals from QQQ, XLF, XLE. Macro inputs (VIX, 10Y/2Y yield spread, Gold, MOVE index) from Bloomberg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61" name="Google Shape;61;p11"/>
          <p:cNvSpPr txBox="1"/>
          <p:nvPr/>
        </p:nvSpPr>
        <p:spPr>
          <a:xfrm>
            <a:off x="650188" y="21942513"/>
            <a:ext cx="1855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400">
                <a:solidFill>
                  <a:srgbClr val="666666"/>
                </a:solidFill>
              </a:rPr>
              <a:t>Fig. 1 — SPY price colored by trend state label: Trending-Up (green), Trans-Up (blue), Trans-Down (orange), Trending-Down (red). 2000–2025.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526338" y="22958313"/>
            <a:ext cx="11402700" cy="1108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b="1" lang="en-US" sz="6000">
                <a:solidFill>
                  <a:srgbClr val="FFFFFF"/>
                </a:solidFill>
                <a:highlight>
                  <a:srgbClr val="1B3A6B"/>
                </a:highlight>
              </a:rPr>
              <a:t> APPROACH</a:t>
            </a:r>
            <a:endParaRPr sz="6000">
              <a:solidFill>
                <a:schemeClr val="dk1"/>
              </a:solidFill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526338" y="24066513"/>
            <a:ext cx="11773800" cy="86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28 features, all computed causally (rolling window, no future data):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Trend Decomposition (10)</a:t>
            </a:r>
            <a:r>
              <a:rPr lang="en-US" sz="3600">
                <a:solidFill>
                  <a:schemeClr val="dk1"/>
                </a:solidFill>
              </a:rPr>
              <a:t>: EWM slopes, fast-vs-slow spread, cycle level / z-score / slope, price-vs-slow, cross signal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Trend Strength (5)</a:t>
            </a:r>
            <a:r>
              <a:rPr lang="en-US" sz="3600">
                <a:solidFill>
                  <a:schemeClr val="dk1"/>
                </a:solidFill>
              </a:rPr>
              <a:t>: ADX-14, ADX strength, MA crossovers (5/20, 20/50), MA stack score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Support/Resistance Proximity (2)</a:t>
            </a:r>
            <a:r>
              <a:rPr lang="en-US" sz="3600">
                <a:solidFill>
                  <a:schemeClr val="dk1"/>
                </a:solidFill>
              </a:rPr>
              <a:t>: distance to rolling pivot highs/lows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Macro (4)</a:t>
            </a:r>
            <a:r>
              <a:rPr lang="en-US" sz="3600">
                <a:solidFill>
                  <a:schemeClr val="dk1"/>
                </a:solidFill>
              </a:rPr>
              <a:t>: VIX, 10Y-2Y yield spread, Gold returns, MOVE index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Cross-Asset + Concordance (3)</a:t>
            </a:r>
            <a:r>
              <a:rPr lang="en-US" sz="3600">
                <a:solidFill>
                  <a:schemeClr val="dk1"/>
                </a:solidFill>
              </a:rPr>
              <a:t>: QQQ/XLF/XLE trend alignment, concordance score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Price Momentum (4)</a:t>
            </a:r>
            <a:r>
              <a:rPr lang="en-US" sz="3600">
                <a:solidFill>
                  <a:schemeClr val="dk1"/>
                </a:solidFill>
              </a:rPr>
              <a:t>: SPY returns 5d/20d/60d, QQQ 20d return, RSI-14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12612438" y="29560663"/>
            <a:ext cx="8537100" cy="27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Feature importance (Random Forest, Gini) affirms decomposition approach - Four highest-importance features: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trend_slow_slope_20 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cycle_level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trend_fast_vs_slow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trend_fast_slope_20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65" name="Google Shape;65;p11"/>
          <p:cNvSpPr txBox="1"/>
          <p:nvPr/>
        </p:nvSpPr>
        <p:spPr>
          <a:xfrm>
            <a:off x="12456338" y="28823313"/>
            <a:ext cx="86931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400">
                <a:solidFill>
                  <a:srgbClr val="666666"/>
                </a:solidFill>
              </a:rPr>
              <a:t>Fig. 2 — Feature Importance Diagram from Random Forest  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66" name="Google Shape;66;p11"/>
          <p:cNvSpPr txBox="1"/>
          <p:nvPr/>
        </p:nvSpPr>
        <p:spPr>
          <a:xfrm>
            <a:off x="19077388" y="5190713"/>
            <a:ext cx="24202800" cy="101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b="1" lang="en-US" sz="6000">
                <a:solidFill>
                  <a:srgbClr val="FFFFFF"/>
                </a:solidFill>
                <a:highlight>
                  <a:srgbClr val="1B3A6B"/>
                </a:highlight>
              </a:rPr>
              <a:t> Network Architecture</a:t>
            </a:r>
            <a:endParaRPr b="1" sz="6000">
              <a:solidFill>
                <a:srgbClr val="FFFFFF"/>
              </a:solidFill>
              <a:highlight>
                <a:srgbClr val="1B3A6B"/>
              </a:highlight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19077400" y="6360124"/>
            <a:ext cx="15601500" cy="67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Input: 60-day lookback window × 28 features. RobustScaler normalized on training data only.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CNN Branch</a:t>
            </a:r>
            <a:r>
              <a:rPr lang="en-US" sz="3600">
                <a:solidFill>
                  <a:schemeClr val="dk1"/>
                </a:solidFill>
              </a:rPr>
              <a:t>: two 1D conv layers (64 filters, kernel=3, ReLU) + MaxPooling + Dropout(0.3). Learns morphological patterns — trend shapes, cycle curvature.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GRU Branch</a:t>
            </a:r>
            <a:r>
              <a:rPr lang="en-US" sz="3600">
                <a:solidFill>
                  <a:schemeClr val="dk1"/>
                </a:solidFill>
              </a:rPr>
              <a:t>: Bidirectional GRU (64 units) over the full 60-day sequence. Captures regime persistence and long-horizon temporal dependencies.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Dual-CNN Variant</a:t>
            </a:r>
            <a:r>
              <a:rPr lang="en-US" sz="3600">
                <a:solidFill>
                  <a:schemeClr val="dk1"/>
                </a:solidFill>
              </a:rPr>
              <a:t>: two parallel CNN branches (kernel=3 and kernel=7) concatenated — captures patterns at different temporal resolutions.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Fusion Head</a:t>
            </a:r>
            <a:r>
              <a:rPr lang="en-US" sz="3600">
                <a:solidFill>
                  <a:schemeClr val="dk1"/>
                </a:solidFill>
              </a:rPr>
              <a:t>: CNN + GRU outputs concatenated → Dense(64, ReLU) → Dropout(0.3) → Dense(4, Softmax). Class-weighted cross-entropy loss.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68" name="Google Shape;68;p11"/>
          <p:cNvSpPr txBox="1"/>
          <p:nvPr/>
        </p:nvSpPr>
        <p:spPr>
          <a:xfrm>
            <a:off x="19130181" y="13493338"/>
            <a:ext cx="11526600" cy="101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b="1" lang="en-US" sz="6000">
                <a:solidFill>
                  <a:srgbClr val="FFFFFF"/>
                </a:solidFill>
                <a:highlight>
                  <a:srgbClr val="1B3A6B"/>
                </a:highlight>
              </a:rPr>
              <a:t> Evaluation Plan and Results</a:t>
            </a:r>
            <a:endParaRPr b="1" sz="6000">
              <a:solidFill>
                <a:srgbClr val="FFFFFF"/>
              </a:solidFill>
              <a:highlight>
                <a:srgbClr val="1B3A6B"/>
              </a:highlight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19130200" y="14601275"/>
            <a:ext cx="1195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-US" sz="3600">
                <a:solidFill>
                  <a:srgbClr val="028090"/>
                </a:solidFill>
              </a:rPr>
              <a:t>Model Performance — All Models vs. Naive Baseline</a:t>
            </a:r>
            <a:endParaRPr b="1" sz="3600">
              <a:solidFill>
                <a:srgbClr val="028090"/>
              </a:solidFill>
            </a:endParaRPr>
          </a:p>
        </p:txBody>
      </p:sp>
      <p:pic>
        <p:nvPicPr>
          <p:cNvPr id="70" name="Google Shape;70;p11" title="fig7_model_compariso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01238" y="15340163"/>
            <a:ext cx="11402701" cy="409227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/>
          <p:nvPr/>
        </p:nvSpPr>
        <p:spPr>
          <a:xfrm>
            <a:off x="19077388" y="19543313"/>
            <a:ext cx="115266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400">
                <a:solidFill>
                  <a:srgbClr val="666666"/>
                </a:solidFill>
              </a:rPr>
              <a:t>Fig. 3 — Directional Accuracy and Macro F1 for all 7 models vs. naive baseline (dashed). Blind test set (2021–2025).</a:t>
            </a:r>
            <a:endParaRPr sz="2400">
              <a:solidFill>
                <a:schemeClr val="dk1"/>
              </a:solidFill>
            </a:endParaRPr>
          </a:p>
        </p:txBody>
      </p:sp>
      <p:graphicFrame>
        <p:nvGraphicFramePr>
          <p:cNvPr id="72" name="Google Shape;72;p11"/>
          <p:cNvGraphicFramePr/>
          <p:nvPr/>
        </p:nvGraphicFramePr>
        <p:xfrm>
          <a:off x="30709575" y="1349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{8E585842-68C0-4D9C-A08B-B5C86F3966D5}</a:tableStyleId>
              </a:tblPr>
              <a:tblGrid>
                <a:gridCol w="3234400"/>
                <a:gridCol w="2045550"/>
                <a:gridCol w="2010575"/>
                <a:gridCol w="5279950"/>
              </a:tblGrid>
              <a:tr h="101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Model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F1 (Macro)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Notes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8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 Stack Heuristic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0.609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0.524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Simple rule baseline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140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ADX+DI Rule-Based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0.776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0.744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Interpretable rule baseline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Random Forest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0.875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0.871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Best overall - classical ML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76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CNN-only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0.800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0.762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Local pattern capture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GRU-only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0.858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0.858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Best deep learning model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76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Dual-CNN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0.810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0.775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Multi-scale convolution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CNN-GRU Fusion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0.820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0.770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Full proposed architecture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3" name="Google Shape;73;p11"/>
          <p:cNvSpPr txBox="1"/>
          <p:nvPr/>
        </p:nvSpPr>
        <p:spPr>
          <a:xfrm>
            <a:off x="19244338" y="20375325"/>
            <a:ext cx="11192700" cy="27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Random Forest - best accuracy (0.875) and F1 (0.871). 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Among deep learning models,GRU-only delivers the best F1 (0.858). The CNN-GRU Fusion (0.820/0.770) underperforms both — the CNN pathway adds optimization complexity without commensurate benefit at this data scale. </a:t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74" name="Google Shape;74;p11" title="fig11_forward_analysi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83313" y="22119000"/>
            <a:ext cx="12196726" cy="6434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11"/>
          <p:cNvGraphicFramePr/>
          <p:nvPr/>
        </p:nvGraphicFramePr>
        <p:xfrm>
          <a:off x="21056913" y="2305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{8E585842-68C0-4D9C-A08B-B5C86F3966D5}</a:tableStyleId>
              </a:tblPr>
              <a:tblGrid>
                <a:gridCol w="1578975"/>
                <a:gridCol w="1728075"/>
                <a:gridCol w="1895700"/>
                <a:gridCol w="1922250"/>
                <a:gridCol w="2678975"/>
              </a:tblGrid>
              <a:tr h="147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Window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Set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Warn Precision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Warn Recall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FFFFFF"/>
                          </a:solidFill>
                        </a:rPr>
                        <a:t>Avg Change Day</a:t>
                      </a:r>
                      <a:endParaRPr b="1" sz="28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80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20-day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Train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81%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18%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8.7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80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20-day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Validation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69%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16%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9.0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15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20-day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Test 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71%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18%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8.7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80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60-day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Train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99%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15%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15.6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60-day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Validation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99%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16%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16.1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84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60-day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Test 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100%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17%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16.1</a:t>
                      </a:r>
                      <a:endParaRPr sz="2800"/>
                    </a:p>
                  </a:txBody>
                  <a:tcPr marT="50800" marB="50800" marR="76200" marL="76200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" name="Google Shape;76;p11"/>
          <p:cNvSpPr txBox="1"/>
          <p:nvPr/>
        </p:nvSpPr>
        <p:spPr>
          <a:xfrm>
            <a:off x="31629263" y="28858063"/>
            <a:ext cx="1110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400">
                <a:solidFill>
                  <a:srgbClr val="666666"/>
                </a:solidFill>
              </a:rPr>
              <a:t>Fig. 4 — Forward-Looking Validation — Early-Warning for Market State Shifts 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77" name="Google Shape;77;p11" title="fig2_trend_state_label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188" y="15207288"/>
            <a:ext cx="18321603" cy="6763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1" title="fig10_feature_importancepn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300138" y="22884937"/>
            <a:ext cx="8693102" cy="576131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1"/>
          <p:cNvSpPr txBox="1"/>
          <p:nvPr/>
        </p:nvSpPr>
        <p:spPr>
          <a:xfrm>
            <a:off x="31450650" y="29469800"/>
            <a:ext cx="119532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Both rolling window prediction has high precision but low recall. 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The label prediction performs better </a:t>
            </a:r>
            <a:r>
              <a:rPr lang="en-US" sz="3600">
                <a:solidFill>
                  <a:schemeClr val="dk1"/>
                </a:solidFill>
              </a:rPr>
              <a:t>as a risk-management overlay or an asymmetrical conviction filter rather than an active trading trigger.</a:t>
            </a:r>
            <a:endParaRPr sz="3600">
              <a:solidFill>
                <a:schemeClr val="dk1"/>
              </a:solidFill>
            </a:endParaRPr>
          </a:p>
        </p:txBody>
      </p:sp>
      <p:pic>
        <p:nvPicPr>
          <p:cNvPr id="80" name="Google Shape;80;p11" title="nn_architectu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269788" y="6206513"/>
            <a:ext cx="5720075" cy="72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1"/>
          <p:cNvSpPr txBox="1"/>
          <p:nvPr/>
        </p:nvSpPr>
        <p:spPr>
          <a:xfrm>
            <a:off x="31205088" y="21075150"/>
            <a:ext cx="1195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-US" sz="3600">
                <a:solidFill>
                  <a:srgbClr val="028090"/>
                </a:solidFill>
              </a:rPr>
              <a:t>Forward-Looking Validation — Label Predictive Value</a:t>
            </a:r>
            <a:endParaRPr b="1" sz="3600">
              <a:solidFill>
                <a:srgbClr val="02809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CState-Presentation-36x48">
  <a:themeElements>
    <a:clrScheme name="NC State Colors">
      <a:dk1>
        <a:srgbClr val="1A1718"/>
      </a:dk1>
      <a:lt1>
        <a:srgbClr val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